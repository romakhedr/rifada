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6E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8636" y="822960"/>
            <a:ext cx="2011680" cy="2011680"/>
          </a:xfrm>
          <a:prstGeom prst="ellipse">
            <a:avLst/>
          </a:prstGeom>
          <a:solidFill>
            <a:srgbClr val="FFFFFF">
              <a:alpha val="10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08676" y="1234440"/>
            <a:ext cx="822960" cy="640080"/>
          </a:xfrm>
          <a:prstGeom prst="triangle">
            <a:avLst/>
          </a:prstGeom>
          <a:solidFill>
            <a:srgbClr val="FFFFFF">
              <a:alpha val="0"/>
            </a:srgbClr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545836" y="1691640"/>
            <a:ext cx="548640" cy="685800"/>
          </a:xfrm>
          <a:prstGeom prst="rect">
            <a:avLst/>
          </a:prstGeom>
          <a:solidFill>
            <a:srgbClr val="FFFFFF">
              <a:alpha val="0"/>
            </a:srgbClr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48756" y="1051560"/>
            <a:ext cx="960120" cy="777240"/>
          </a:xfrm>
          <a:prstGeom prst="triangle">
            <a:avLst/>
          </a:prstGeom>
          <a:solidFill>
            <a:srgbClr val="FFFFFF">
              <a:alpha val="0"/>
            </a:srgbClr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31636" y="1600200"/>
            <a:ext cx="640080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320040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Rifada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914400" y="420624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1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micro community-solidarity app for a single neighborhood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0" y="603504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1F5EE"/>
                </a:solidFill>
              </a:rPr>
              <a:t>PRD &amp; Presentation — September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C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 Idea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10908792" cy="1828800"/>
          </a:xfrm>
          <a:prstGeom prst="roundRect">
            <a:avLst>
              <a:gd name="adj" fmla="val 5000"/>
            </a:avLst>
          </a:prstGeom>
          <a:solidFill>
            <a:srgbClr val="E1F5EE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600200"/>
            <a:ext cx="1017727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lightweight, easy-to-use web app that connects residents of a single neighborhood to enable micro community solidarity: lending tools and textbooks, and reporting simple infrastructure needs to make it easier to reach neighborhood development committees.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046732" y="3657600"/>
            <a:ext cx="640080" cy="640080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4480560"/>
            <a:ext cx="345338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Lending tools &amp; books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774436" y="3657600"/>
            <a:ext cx="640080" cy="640080"/>
          </a:xfrm>
          <a:prstGeom prst="ellipse">
            <a:avLst/>
          </a:prstGeom>
          <a:solidFill>
            <a:srgbClr val="D85A30"/>
          </a:solidFill>
          <a:ln/>
        </p:spPr>
      </p:sp>
      <p:sp>
        <p:nvSpPr>
          <p:cNvPr id="8" name="Text 6"/>
          <p:cNvSpPr/>
          <p:nvPr/>
        </p:nvSpPr>
        <p:spPr>
          <a:xfrm>
            <a:off x="4367784" y="4480560"/>
            <a:ext cx="345338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Photo-based issue reports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502140" y="3657600"/>
            <a:ext cx="640080" cy="640080"/>
          </a:xfrm>
          <a:prstGeom prst="ellipse">
            <a:avLst/>
          </a:prstGeom>
          <a:solidFill>
            <a:srgbClr val="EF9F27"/>
          </a:solidFill>
          <a:ln/>
        </p:spPr>
      </p:sp>
      <p:sp>
        <p:nvSpPr>
          <p:cNvPr id="10" name="Text 8"/>
          <p:cNvSpPr/>
          <p:nvPr/>
        </p:nvSpPr>
        <p:spPr>
          <a:xfrm>
            <a:off x="8095488" y="4480560"/>
            <a:ext cx="345338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 tutoring sessions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Rifada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988552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5E5A"/>
                </a:solidFill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C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Community Value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109728" cy="1051560"/>
          </a:xfrm>
          <a:prstGeom prst="roundRect">
            <a:avLst>
              <a:gd name="adj" fmla="val 50000"/>
            </a:avLst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463040"/>
            <a:ext cx="104515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Reducing financial &amp; environmental waste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874520"/>
            <a:ext cx="104515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Encourages re-lending tools, temporary appliances, and textbooks instead of buying new ones.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880360"/>
            <a:ext cx="109728" cy="1051560"/>
          </a:xfrm>
          <a:prstGeom prst="roundRect">
            <a:avLst>
              <a:gd name="adj" fmla="val 50000"/>
            </a:avLst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880360"/>
            <a:ext cx="104515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 educational empowerment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291840"/>
            <a:ext cx="104515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safe space to organize free tutoring and review sessions for neighborhood children who need help.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4297680"/>
            <a:ext cx="109728" cy="1051560"/>
          </a:xfrm>
          <a:prstGeom prst="roundRect">
            <a:avLst>
              <a:gd name="adj" fmla="val 50000"/>
            </a:avLst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297680"/>
            <a:ext cx="104515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response for services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4709160"/>
            <a:ext cx="104515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photo-based community reporting system that routes local feedback to the right parties in an organized way.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Rifada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988552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5E5A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C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Is It Rare &amp; Uncomplicated?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225796" cy="2743200"/>
          </a:xfrm>
          <a:prstGeom prst="roundRect">
            <a:avLst>
              <a:gd name="adj" fmla="val 5000"/>
            </a:avLst>
          </a:prstGeom>
          <a:solidFill>
            <a:srgbClr val="E1F5EE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828800"/>
            <a:ext cx="44942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Simplified interface for everyone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005840" y="2560320"/>
            <a:ext cx="4494276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icons suited to every age group, including older residents.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323076" y="1554480"/>
            <a:ext cx="5225796" cy="2743200"/>
          </a:xfrm>
          <a:prstGeom prst="roundRect">
            <a:avLst>
              <a:gd name="adj" fmla="val 5000"/>
            </a:avLst>
          </a:prstGeom>
          <a:solidFill>
            <a:srgbClr val="FAECE7"/>
          </a:solidFill>
          <a:ln/>
        </p:spPr>
      </p:sp>
      <p:sp>
        <p:nvSpPr>
          <p:cNvPr id="7" name="Text 5"/>
          <p:cNvSpPr/>
          <p:nvPr/>
        </p:nvSpPr>
        <p:spPr>
          <a:xfrm>
            <a:off x="6688836" y="1828800"/>
            <a:ext cx="44942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Tight-scope local trust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688836" y="2560320"/>
            <a:ext cx="4494276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Focused on a single neighborhood or residential area only, without complex algorithms.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Rifada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88552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5E5A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C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 &amp; Visual Identity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14400" y="1463040"/>
            <a:ext cx="2194560" cy="2194560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4" name="Shape 2"/>
          <p:cNvSpPr/>
          <p:nvPr/>
        </p:nvSpPr>
        <p:spPr>
          <a:xfrm>
            <a:off x="1428750" y="2009394"/>
            <a:ext cx="699516" cy="544068"/>
          </a:xfrm>
          <a:prstGeom prst="triangle">
            <a:avLst/>
          </a:prstGeom>
          <a:solidFill>
            <a:srgbClr val="FFFFFF">
              <a:alpha val="0"/>
            </a:srgbClr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45336" y="2398014"/>
            <a:ext cx="466344" cy="582930"/>
          </a:xfrm>
          <a:prstGeom prst="rect">
            <a:avLst/>
          </a:prstGeom>
          <a:solidFill>
            <a:srgbClr val="FFFFFF">
              <a:alpha val="0"/>
            </a:srgbClr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72818" y="1853946"/>
            <a:ext cx="816102" cy="660654"/>
          </a:xfrm>
          <a:prstGeom prst="triangle">
            <a:avLst/>
          </a:prstGeom>
          <a:solidFill>
            <a:srgbClr val="FFFFFF">
              <a:alpha val="0"/>
            </a:srgbClr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28266" y="2320290"/>
            <a:ext cx="544068" cy="699516"/>
          </a:xfrm>
          <a:prstGeom prst="rect">
            <a:avLst/>
          </a:prstGeom>
          <a:solidFill>
            <a:srgbClr val="FFFFFF">
              <a:alpha val="0"/>
            </a:srgbClr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7947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Rifada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931920" y="1554480"/>
            <a:ext cx="3671316" cy="731520"/>
          </a:xfrm>
          <a:prstGeom prst="roundRect">
            <a:avLst>
              <a:gd name="adj" fmla="val 10000"/>
            </a:avLst>
          </a:prstGeom>
          <a:solidFill>
            <a:srgbClr val="0F6E56"/>
          </a:solidFill>
          <a:ln/>
        </p:spPr>
      </p:sp>
      <p:sp>
        <p:nvSpPr>
          <p:cNvPr id="10" name="Text 8"/>
          <p:cNvSpPr/>
          <p:nvPr/>
        </p:nvSpPr>
        <p:spPr>
          <a:xfrm>
            <a:off x="3931920" y="1554480"/>
            <a:ext cx="367131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Teal (primary)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877556" y="1554480"/>
            <a:ext cx="3671316" cy="731520"/>
          </a:xfrm>
          <a:prstGeom prst="roundRect">
            <a:avLst>
              <a:gd name="adj" fmla="val 10000"/>
            </a:avLst>
          </a:prstGeom>
          <a:solidFill>
            <a:srgbClr val="D85A30"/>
          </a:solidFill>
          <a:ln/>
        </p:spPr>
      </p:sp>
      <p:sp>
        <p:nvSpPr>
          <p:cNvPr id="12" name="Text 10"/>
          <p:cNvSpPr/>
          <p:nvPr/>
        </p:nvSpPr>
        <p:spPr>
          <a:xfrm>
            <a:off x="7877556" y="1554480"/>
            <a:ext cx="367131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Coral (secondary)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931920" y="2606040"/>
            <a:ext cx="3671316" cy="731520"/>
          </a:xfrm>
          <a:prstGeom prst="roundRect">
            <a:avLst>
              <a:gd name="adj" fmla="val 10000"/>
            </a:avLst>
          </a:prstGeom>
          <a:solidFill>
            <a:srgbClr val="EF9F27"/>
          </a:solidFill>
          <a:ln/>
        </p:spPr>
      </p:sp>
      <p:sp>
        <p:nvSpPr>
          <p:cNvPr id="14" name="Text 12"/>
          <p:cNvSpPr/>
          <p:nvPr/>
        </p:nvSpPr>
        <p:spPr>
          <a:xfrm>
            <a:off x="3931920" y="2606040"/>
            <a:ext cx="367131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 (accent)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877556" y="2606040"/>
            <a:ext cx="3671316" cy="731520"/>
          </a:xfrm>
          <a:prstGeom prst="roundRect">
            <a:avLst>
              <a:gd name="adj" fmla="val 10000"/>
            </a:avLst>
          </a:prstGeom>
          <a:solidFill>
            <a:srgbClr val="5F5E5A"/>
          </a:solidFill>
          <a:ln/>
        </p:spPr>
      </p:sp>
      <p:sp>
        <p:nvSpPr>
          <p:cNvPr id="16" name="Text 14"/>
          <p:cNvSpPr/>
          <p:nvPr/>
        </p:nvSpPr>
        <p:spPr>
          <a:xfrm>
            <a:off x="7877556" y="2606040"/>
            <a:ext cx="367131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 (text)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931920" y="3794760"/>
            <a:ext cx="76169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Typography: Sans, two weights only (regular and semibold) to keep the interface simple and clear for all ages.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Rifada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988552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5E5A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C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Full-Stack Architecture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645920"/>
            <a:ext cx="3453384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9050">
            <a:solidFill>
              <a:srgbClr val="0F6E5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92452" y="1965960"/>
            <a:ext cx="548640" cy="548640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743200"/>
            <a:ext cx="29961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3291840"/>
            <a:ext cx="29961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/ React on Vercel for high speed and responsiveness on mobile.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67784" y="1645920"/>
            <a:ext cx="3453384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9050">
            <a:solidFill>
              <a:srgbClr val="D85A3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820156" y="1965960"/>
            <a:ext cx="548640" cy="548640"/>
          </a:xfrm>
          <a:prstGeom prst="ellipse">
            <a:avLst/>
          </a:prstGeom>
          <a:solidFill>
            <a:srgbClr val="D85A30"/>
          </a:solidFill>
          <a:ln/>
        </p:spPr>
      </p:sp>
      <p:sp>
        <p:nvSpPr>
          <p:cNvPr id="9" name="Text 7"/>
          <p:cNvSpPr/>
          <p:nvPr/>
        </p:nvSpPr>
        <p:spPr>
          <a:xfrm>
            <a:off x="4596384" y="2743200"/>
            <a:ext cx="29961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&amp; backend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96384" y="3291840"/>
            <a:ext cx="29961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for account management and storing report/post images.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095488" y="1645920"/>
            <a:ext cx="3453384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9050">
            <a:solidFill>
              <a:srgbClr val="EF9F2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547860" y="1965960"/>
            <a:ext cx="548640" cy="548640"/>
          </a:xfrm>
          <a:prstGeom prst="ellipse">
            <a:avLst/>
          </a:prstGeom>
          <a:solidFill>
            <a:srgbClr val="EF9F2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4088" y="2743200"/>
            <a:ext cx="29961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processing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324088" y="3291840"/>
            <a:ext cx="29961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/ FastAPI to sort listings and requests by geographic proximity.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Rifada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988552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5E5A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C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Screens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3453384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3D1C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3453384" cy="164592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920240"/>
            <a:ext cx="2904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screen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423160"/>
            <a:ext cx="2904744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core shortcuts, plus a Nearby feed of active requests and reports.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67784" y="1554480"/>
            <a:ext cx="3453384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3D1C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67784" y="1554480"/>
            <a:ext cx="3453384" cy="164592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42104" y="1920240"/>
            <a:ext cx="2904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issue report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642104" y="2423160"/>
            <a:ext cx="2904744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issue type, short description, auto-location, and community confirmation.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95488" y="1554480"/>
            <a:ext cx="3453384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3D1C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95488" y="1554480"/>
            <a:ext cx="3453384" cy="164592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69808" y="1920240"/>
            <a:ext cx="2904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 a tool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369808" y="2423160"/>
            <a:ext cx="2904744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status, lending duration, and a track record of successful lends to build trust.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Rifada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988552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5E5A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6E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82880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6E56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463040" y="1783080"/>
            <a:ext cx="9994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MVP covering the reporting, lending, and home screens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278892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788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6E56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63040" y="2743200"/>
            <a:ext cx="9994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the Supabase database for users, reports, and listings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" y="374904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749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6E56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63040" y="3703320"/>
            <a:ext cx="9994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with a sample of residents from a single neighborhood before expanding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22960" y="470916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709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6E56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63040" y="4663440"/>
            <a:ext cx="9994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 the neighborhood development committee to formally integrate the reporting system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Rifada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988552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5E5A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2026-09-10T15:40:57Z</dcterms:created>
  <dcterms:modified xsi:type="dcterms:W3CDTF">2026-09-10T15:40:57Z</dcterms:modified>
</cp:coreProperties>
</file>